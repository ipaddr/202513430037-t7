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rt Nuvo Letterpress" charset="1" panose="00000000000000000000"/>
      <p:regular r:id="rId28"/>
    </p:embeddedFont>
    <p:embeddedFont>
      <p:font typeface="Glass Antiqua" charset="1" panose="0200050600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8.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2.png" Type="http://schemas.openxmlformats.org/officeDocument/2006/relationships/image"/><Relationship Id="rId17" Target="../media/image23.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4.png" Type="http://schemas.openxmlformats.org/officeDocument/2006/relationships/image"/><Relationship Id="rId17" Target="../media/image25.png" Type="http://schemas.openxmlformats.org/officeDocument/2006/relationships/image"/><Relationship Id="rId18" Target="../media/image2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7.png" Type="http://schemas.openxmlformats.org/officeDocument/2006/relationships/image"/><Relationship Id="rId17" Target="../media/image28.png" Type="http://schemas.openxmlformats.org/officeDocument/2006/relationships/image"/><Relationship Id="rId18" Target="../media/image2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30.png" Type="http://schemas.openxmlformats.org/officeDocument/2006/relationships/image"/><Relationship Id="rId17" Target="../media/image31.png" Type="http://schemas.openxmlformats.org/officeDocument/2006/relationships/image"/><Relationship Id="rId18" Target="../media/image3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33.png" Type="http://schemas.openxmlformats.org/officeDocument/2006/relationships/image"/><Relationship Id="rId17" Target="../media/image34.png" Type="http://schemas.openxmlformats.org/officeDocument/2006/relationships/image"/><Relationship Id="rId18" Target="../media/image3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3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3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38.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3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119960">
            <a:off x="2455744" y="-218229"/>
            <a:ext cx="13376513" cy="13573952"/>
          </a:xfrm>
          <a:custGeom>
            <a:avLst/>
            <a:gdLst/>
            <a:ahLst/>
            <a:cxnLst/>
            <a:rect r="r" b="b" t="t" l="l"/>
            <a:pathLst>
              <a:path h="13573952" w="13376513">
                <a:moveTo>
                  <a:pt x="0" y="0"/>
                </a:moveTo>
                <a:lnTo>
                  <a:pt x="13376512" y="0"/>
                </a:lnTo>
                <a:lnTo>
                  <a:pt x="13376512" y="13573952"/>
                </a:lnTo>
                <a:lnTo>
                  <a:pt x="0" y="135739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271391">
            <a:off x="4164893" y="4244086"/>
            <a:ext cx="11065238" cy="3211806"/>
          </a:xfrm>
          <a:prstGeom prst="rect">
            <a:avLst/>
          </a:prstGeom>
        </p:spPr>
        <p:txBody>
          <a:bodyPr anchor="t" rtlCol="false" tIns="0" lIns="0" bIns="0" rIns="0">
            <a:spAutoFit/>
          </a:bodyPr>
          <a:lstStyle/>
          <a:p>
            <a:pPr algn="ctr">
              <a:lnSpc>
                <a:spcPts val="8057"/>
              </a:lnSpc>
            </a:pPr>
            <a:r>
              <a:rPr lang="en-US" sz="10601">
                <a:solidFill>
                  <a:srgbClr val="483E2B"/>
                </a:solidFill>
                <a:latin typeface="Art Nuvo Letterpress"/>
                <a:ea typeface="Art Nuvo Letterpress"/>
                <a:cs typeface="Art Nuvo Letterpress"/>
                <a:sym typeface="Art Nuvo Letterpress"/>
              </a:rPr>
              <a:t>APLIKASI  TRANPORTASI MY TICKETS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682466" y="1509278"/>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2167784" y="2501521"/>
            <a:ext cx="13117469" cy="1306307"/>
          </a:xfrm>
          <a:prstGeom prst="rect">
            <a:avLst/>
          </a:prstGeom>
        </p:spPr>
        <p:txBody>
          <a:bodyPr anchor="t" rtlCol="false" tIns="0" lIns="0" bIns="0" rIns="0">
            <a:spAutoFit/>
          </a:bodyPr>
          <a:lstStyle/>
          <a:p>
            <a:pPr algn="ctr">
              <a:lnSpc>
                <a:spcPts val="8957"/>
              </a:lnSpc>
            </a:pPr>
            <a:r>
              <a:rPr lang="en-US" sz="11786">
                <a:solidFill>
                  <a:srgbClr val="483E2B"/>
                </a:solidFill>
                <a:latin typeface="Art Nuvo Letterpress"/>
                <a:ea typeface="Art Nuvo Letterpress"/>
                <a:cs typeface="Art Nuvo Letterpress"/>
                <a:sym typeface="Art Nuvo Letterpress"/>
              </a:rPr>
              <a:t>ANGGOTA KELOMPOK </a:t>
            </a:r>
          </a:p>
        </p:txBody>
      </p:sp>
      <p:sp>
        <p:nvSpPr>
          <p:cNvPr name="TextBox 16" id="16"/>
          <p:cNvSpPr txBox="true"/>
          <p:nvPr/>
        </p:nvSpPr>
        <p:spPr>
          <a:xfrm rot="-270511">
            <a:off x="4172062" y="4494721"/>
            <a:ext cx="10355822" cy="3824055"/>
          </a:xfrm>
          <a:prstGeom prst="rect">
            <a:avLst/>
          </a:prstGeom>
        </p:spPr>
        <p:txBody>
          <a:bodyPr anchor="t" rtlCol="false" tIns="0" lIns="0" bIns="0" rIns="0">
            <a:spAutoFit/>
          </a:bodyPr>
          <a:lstStyle/>
          <a:p>
            <a:pPr algn="ctr">
              <a:lnSpc>
                <a:spcPts val="7625"/>
              </a:lnSpc>
            </a:pPr>
            <a:r>
              <a:rPr lang="en-US" sz="5446">
                <a:solidFill>
                  <a:srgbClr val="51511B"/>
                </a:solidFill>
                <a:latin typeface="Glass Antiqua"/>
                <a:ea typeface="Glass Antiqua"/>
                <a:cs typeface="Glass Antiqua"/>
                <a:sym typeface="Glass Antiqua"/>
              </a:rPr>
              <a:t>1.KetherinFathur Rahma</a:t>
            </a:r>
          </a:p>
          <a:p>
            <a:pPr algn="ctr">
              <a:lnSpc>
                <a:spcPts val="7625"/>
              </a:lnSpc>
            </a:pPr>
            <a:r>
              <a:rPr lang="en-US" sz="5446">
                <a:solidFill>
                  <a:srgbClr val="51511B"/>
                </a:solidFill>
                <a:latin typeface="Glass Antiqua"/>
                <a:ea typeface="Glass Antiqua"/>
                <a:cs typeface="Glass Antiqua"/>
                <a:sym typeface="Glass Antiqua"/>
              </a:rPr>
              <a:t>2.Muhammad Rafki</a:t>
            </a:r>
          </a:p>
          <a:p>
            <a:pPr algn="ctr">
              <a:lnSpc>
                <a:spcPts val="7625"/>
              </a:lnSpc>
            </a:pPr>
            <a:r>
              <a:rPr lang="en-US" sz="5446">
                <a:solidFill>
                  <a:srgbClr val="51511B"/>
                </a:solidFill>
                <a:latin typeface="Glass Antiqua"/>
                <a:ea typeface="Glass Antiqua"/>
                <a:cs typeface="Glass Antiqua"/>
                <a:sym typeface="Glass Antiqua"/>
              </a:rPr>
              <a:t>3.Serly Eka Putri</a:t>
            </a:r>
          </a:p>
          <a:p>
            <a:pPr algn="ctr">
              <a:lnSpc>
                <a:spcPts val="7625"/>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5126754" y="7071217"/>
            <a:ext cx="4880617" cy="4392555"/>
          </a:xfrm>
          <a:custGeom>
            <a:avLst/>
            <a:gdLst/>
            <a:ahLst/>
            <a:cxnLst/>
            <a:rect r="r" b="b" t="t" l="l"/>
            <a:pathLst>
              <a:path h="4392555" w="4880617">
                <a:moveTo>
                  <a:pt x="0" y="0"/>
                </a:moveTo>
                <a:lnTo>
                  <a:pt x="4880617" y="0"/>
                </a:lnTo>
                <a:lnTo>
                  <a:pt x="4880617" y="4392555"/>
                </a:lnTo>
                <a:lnTo>
                  <a:pt x="0" y="43925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3170352" y="2191625"/>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LATAR BELAKANG</a:t>
            </a:r>
          </a:p>
        </p:txBody>
      </p:sp>
      <p:sp>
        <p:nvSpPr>
          <p:cNvPr name="TextBox 16" id="16"/>
          <p:cNvSpPr txBox="true"/>
          <p:nvPr/>
        </p:nvSpPr>
        <p:spPr>
          <a:xfrm rot="-270511">
            <a:off x="3377084" y="3254298"/>
            <a:ext cx="12422419" cy="7985209"/>
          </a:xfrm>
          <a:prstGeom prst="rect">
            <a:avLst/>
          </a:prstGeom>
        </p:spPr>
        <p:txBody>
          <a:bodyPr anchor="t" rtlCol="false" tIns="0" lIns="0" bIns="0" rIns="0">
            <a:spAutoFit/>
          </a:bodyPr>
          <a:lstStyle/>
          <a:p>
            <a:pPr algn="ctr">
              <a:lnSpc>
                <a:spcPts val="4545"/>
              </a:lnSpc>
            </a:pPr>
            <a:r>
              <a:rPr lang="en-US" sz="3246">
                <a:solidFill>
                  <a:srgbClr val="51511B"/>
                </a:solidFill>
                <a:latin typeface="Glass Antiqua"/>
                <a:ea typeface="Glass Antiqua"/>
                <a:cs typeface="Glass Antiqua"/>
                <a:sym typeface="Glass Antiqua"/>
              </a:rPr>
              <a:t>Perkembanganteknologi digital mendorongkebutuhanakansistemtransportasi yang cepat, efisien, dan transparan. Proses pemesanantiket manual yang masihbanyakdigunakanmenimbulkan berbagai kendalasepertiantreanpanjang, kesalahan data, dan pembayaran yang tidak praktis. Untuk mengatasihaltersebut, dikembangkanaplikasi My Tickets, platform digital berbasis mobile dan web yang memudahkanpengguna dalam mencarijadwal, memilihrute, melakukan pembayaran non-tunai, hinggamenerimatiket digital berbasis QR Code. Selain itu, aplikasiinidilengkapi dengan Dashboard Admin untuk membantupenyedialayanantransportasimengelolajadwal, armada, dan laporanpenjualansecara real-time. My Tickets hadir sebagai solusiinovatif dalam mendukungdigitalisasisistemtransportasimenuju era Smart Mobility yang modern, praktis, dan terintegrasi.</a:t>
            </a:r>
          </a:p>
          <a:p>
            <a:pPr algn="ctr">
              <a:lnSpc>
                <a:spcPts val="4545"/>
              </a:lnSpc>
            </a:pPr>
          </a:p>
          <a:p>
            <a:pPr algn="ctr">
              <a:lnSpc>
                <a:spcPts val="4545"/>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2101481" y="1617001"/>
            <a:ext cx="13525201" cy="1303950"/>
          </a:xfrm>
          <a:prstGeom prst="rect">
            <a:avLst/>
          </a:prstGeom>
        </p:spPr>
        <p:txBody>
          <a:bodyPr anchor="t" rtlCol="false" tIns="0" lIns="0" bIns="0" rIns="0">
            <a:spAutoFit/>
          </a:bodyPr>
          <a:lstStyle/>
          <a:p>
            <a:pPr algn="ctr">
              <a:lnSpc>
                <a:spcPts val="8930"/>
              </a:lnSpc>
            </a:pPr>
            <a:r>
              <a:rPr lang="en-US" sz="11750">
                <a:solidFill>
                  <a:srgbClr val="483E2B"/>
                </a:solidFill>
                <a:latin typeface="Art Nuvo Letterpress"/>
                <a:ea typeface="Art Nuvo Letterpress"/>
                <a:cs typeface="Art Nuvo Letterpress"/>
                <a:sym typeface="Art Nuvo Letterpress"/>
              </a:rPr>
              <a:t>SOLUSI DARI APLIKASI</a:t>
            </a:r>
          </a:p>
        </p:txBody>
      </p:sp>
      <p:sp>
        <p:nvSpPr>
          <p:cNvPr name="TextBox 16" id="16"/>
          <p:cNvSpPr txBox="true"/>
          <p:nvPr/>
        </p:nvSpPr>
        <p:spPr>
          <a:xfrm rot="-270511">
            <a:off x="3818293" y="2935147"/>
            <a:ext cx="10522670" cy="7690570"/>
          </a:xfrm>
          <a:prstGeom prst="rect">
            <a:avLst/>
          </a:prstGeom>
        </p:spPr>
        <p:txBody>
          <a:bodyPr anchor="t" rtlCol="false" tIns="0" lIns="0" bIns="0" rIns="0">
            <a:spAutoFit/>
          </a:bodyPr>
          <a:lstStyle/>
          <a:p>
            <a:pPr algn="ctr">
              <a:lnSpc>
                <a:spcPts val="6085"/>
              </a:lnSpc>
            </a:pPr>
            <a:r>
              <a:rPr lang="en-US" sz="4346">
                <a:solidFill>
                  <a:srgbClr val="51511B"/>
                </a:solidFill>
                <a:latin typeface="Glass Antiqua"/>
                <a:ea typeface="Glass Antiqua"/>
                <a:cs typeface="Glass Antiqua"/>
                <a:sym typeface="Glass Antiqua"/>
              </a:rPr>
              <a:t>1.Pemesanan online cepat dan efisientanpaantrean</a:t>
            </a:r>
          </a:p>
          <a:p>
            <a:pPr algn="ctr">
              <a:lnSpc>
                <a:spcPts val="6085"/>
              </a:lnSpc>
            </a:pPr>
            <a:r>
              <a:rPr lang="en-US" sz="4346">
                <a:solidFill>
                  <a:srgbClr val="51511B"/>
                </a:solidFill>
                <a:latin typeface="Glass Antiqua"/>
                <a:ea typeface="Glass Antiqua"/>
                <a:cs typeface="Glass Antiqua"/>
                <a:sym typeface="Glass Antiqua"/>
              </a:rPr>
              <a:t>2.Informasijadwal dan kursi ditampilkan secara transparan.</a:t>
            </a:r>
          </a:p>
          <a:p>
            <a:pPr algn="ctr">
              <a:lnSpc>
                <a:spcPts val="6085"/>
              </a:lnSpc>
            </a:pPr>
            <a:r>
              <a:rPr lang="en-US" sz="4346">
                <a:solidFill>
                  <a:srgbClr val="51511B"/>
                </a:solidFill>
                <a:latin typeface="Glass Antiqua"/>
                <a:ea typeface="Glass Antiqua"/>
                <a:cs typeface="Glass Antiqua"/>
                <a:sym typeface="Glass Antiqua"/>
              </a:rPr>
              <a:t>3.Pemilihan kursi interaktif berbasis warna.</a:t>
            </a:r>
          </a:p>
          <a:p>
            <a:pPr algn="ctr">
              <a:lnSpc>
                <a:spcPts val="6085"/>
              </a:lnSpc>
            </a:pPr>
            <a:r>
              <a:rPr lang="en-US" sz="4346">
                <a:solidFill>
                  <a:srgbClr val="51511B"/>
                </a:solidFill>
                <a:latin typeface="Glass Antiqua"/>
                <a:ea typeface="Glass Antiqua"/>
                <a:cs typeface="Glass Antiqua"/>
                <a:sym typeface="Glass Antiqua"/>
              </a:rPr>
              <a:t>4.Pembayaran digital melalui QRIS, e-wallet, dan transfer bank.</a:t>
            </a:r>
          </a:p>
          <a:p>
            <a:pPr algn="ctr">
              <a:lnSpc>
                <a:spcPts val="6085"/>
              </a:lnSpc>
            </a:pPr>
            <a:r>
              <a:rPr lang="en-US" sz="4346">
                <a:solidFill>
                  <a:srgbClr val="51511B"/>
                </a:solidFill>
                <a:latin typeface="Glass Antiqua"/>
                <a:ea typeface="Glass Antiqua"/>
                <a:cs typeface="Glass Antiqua"/>
                <a:sym typeface="Glass Antiqua"/>
              </a:rPr>
              <a:t>5.Tiket digital (E-Ticket) dengan QR Code.</a:t>
            </a:r>
          </a:p>
          <a:p>
            <a:pPr algn="ctr">
              <a:lnSpc>
                <a:spcPts val="6085"/>
              </a:lnSpc>
            </a:pPr>
            <a:r>
              <a:rPr lang="en-US" sz="4346">
                <a:solidFill>
                  <a:srgbClr val="51511B"/>
                </a:solidFill>
                <a:latin typeface="Glass Antiqua"/>
                <a:ea typeface="Glass Antiqua"/>
                <a:cs typeface="Glass Antiqua"/>
                <a:sym typeface="Glass Antiqua"/>
              </a:rPr>
              <a:t>6.Fitur pelacakan dan riwayatpemesanantiket.</a:t>
            </a:r>
          </a:p>
          <a:p>
            <a:pPr algn="ctr">
              <a:lnSpc>
                <a:spcPts val="6085"/>
              </a:lnSpc>
            </a:pPr>
          </a:p>
          <a:p>
            <a:pPr algn="ctr">
              <a:lnSpc>
                <a:spcPts val="608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2674715"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FITUR UATAMA</a:t>
            </a:r>
          </a:p>
        </p:txBody>
      </p:sp>
      <p:sp>
        <p:nvSpPr>
          <p:cNvPr name="TextBox 16" id="16"/>
          <p:cNvSpPr txBox="true"/>
          <p:nvPr/>
        </p:nvSpPr>
        <p:spPr>
          <a:xfrm rot="-270511">
            <a:off x="3962345" y="3180042"/>
            <a:ext cx="10355822" cy="7687395"/>
          </a:xfrm>
          <a:prstGeom prst="rect">
            <a:avLst/>
          </a:prstGeom>
        </p:spPr>
        <p:txBody>
          <a:bodyPr anchor="t" rtlCol="false" tIns="0" lIns="0" bIns="0" rIns="0">
            <a:spAutoFit/>
          </a:bodyPr>
          <a:lstStyle/>
          <a:p>
            <a:pPr algn="ctr">
              <a:lnSpc>
                <a:spcPts val="6785"/>
              </a:lnSpc>
            </a:pPr>
            <a:r>
              <a:rPr lang="en-US" sz="4846">
                <a:solidFill>
                  <a:srgbClr val="51511B"/>
                </a:solidFill>
                <a:latin typeface="Glass Antiqua"/>
                <a:ea typeface="Glass Antiqua"/>
                <a:cs typeface="Glass Antiqua"/>
                <a:sym typeface="Glass Antiqua"/>
              </a:rPr>
              <a:t>•Pencariantiketberdasarkankota dan tanggal.</a:t>
            </a:r>
          </a:p>
          <a:p>
            <a:pPr algn="ctr">
              <a:lnSpc>
                <a:spcPts val="6785"/>
              </a:lnSpc>
            </a:pPr>
            <a:r>
              <a:rPr lang="en-US" sz="4846">
                <a:solidFill>
                  <a:srgbClr val="51511B"/>
                </a:solidFill>
                <a:latin typeface="Glass Antiqua"/>
                <a:ea typeface="Glass Antiqua"/>
                <a:cs typeface="Glass Antiqua"/>
                <a:sym typeface="Glass Antiqua"/>
              </a:rPr>
              <a:t>•Opsiperjalanan pulang-pergi.</a:t>
            </a:r>
          </a:p>
          <a:p>
            <a:pPr algn="ctr">
              <a:lnSpc>
                <a:spcPts val="6785"/>
              </a:lnSpc>
            </a:pPr>
            <a:r>
              <a:rPr lang="en-US" sz="4846">
                <a:solidFill>
                  <a:srgbClr val="51511B"/>
                </a:solidFill>
                <a:latin typeface="Glass Antiqua"/>
                <a:ea typeface="Glass Antiqua"/>
                <a:cs typeface="Glass Antiqua"/>
                <a:sym typeface="Glass Antiqua"/>
              </a:rPr>
              <a:t>•Pemilihankursiinteraktif (Seat Map).</a:t>
            </a:r>
          </a:p>
          <a:p>
            <a:pPr algn="ctr">
              <a:lnSpc>
                <a:spcPts val="6785"/>
              </a:lnSpc>
            </a:pPr>
            <a:r>
              <a:rPr lang="en-US" sz="4846">
                <a:solidFill>
                  <a:srgbClr val="51511B"/>
                </a:solidFill>
                <a:latin typeface="Glass Antiqua"/>
                <a:ea typeface="Glass Antiqua"/>
                <a:cs typeface="Glass Antiqua"/>
                <a:sym typeface="Glass Antiqua"/>
              </a:rPr>
              <a:t>•Multi-metode pembayaran digital.</a:t>
            </a:r>
          </a:p>
          <a:p>
            <a:pPr algn="ctr">
              <a:lnSpc>
                <a:spcPts val="6785"/>
              </a:lnSpc>
            </a:pPr>
            <a:r>
              <a:rPr lang="en-US" sz="4846">
                <a:solidFill>
                  <a:srgbClr val="51511B"/>
                </a:solidFill>
                <a:latin typeface="Glass Antiqua"/>
                <a:ea typeface="Glass Antiqua"/>
                <a:cs typeface="Glass Antiqua"/>
                <a:sym typeface="Glass Antiqua"/>
              </a:rPr>
              <a:t>•E-Ticket digital dengan QR Code.</a:t>
            </a:r>
          </a:p>
          <a:p>
            <a:pPr algn="ctr">
              <a:lnSpc>
                <a:spcPts val="6785"/>
              </a:lnSpc>
            </a:pPr>
            <a:r>
              <a:rPr lang="en-US" sz="4846">
                <a:solidFill>
                  <a:srgbClr val="51511B"/>
                </a:solidFill>
                <a:latin typeface="Glass Antiqua"/>
                <a:ea typeface="Glass Antiqua"/>
                <a:cs typeface="Glass Antiqua"/>
                <a:sym typeface="Glass Antiqua"/>
              </a:rPr>
              <a:t>•Riwayat perjalanan dan notifikasi real-time.</a:t>
            </a:r>
          </a:p>
          <a:p>
            <a:pPr algn="ctr">
              <a:lnSpc>
                <a:spcPts val="6785"/>
              </a:lnSpc>
            </a:pPr>
            <a:r>
              <a:rPr lang="en-US" sz="4846">
                <a:solidFill>
                  <a:srgbClr val="51511B"/>
                </a:solidFill>
                <a:latin typeface="Glass Antiqua"/>
                <a:ea typeface="Glass Antiqua"/>
                <a:cs typeface="Glass Antiqua"/>
                <a:sym typeface="Glass Antiqua"/>
              </a:rPr>
              <a:t>•Manajemenakun dan pengaturanprofil.</a:t>
            </a:r>
          </a:p>
          <a:p>
            <a:pPr algn="ctr">
              <a:lnSpc>
                <a:spcPts val="6785"/>
              </a:lnSpc>
            </a:pPr>
          </a:p>
          <a:p>
            <a:pPr algn="ctr">
              <a:lnSpc>
                <a:spcPts val="678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3170352"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ALUR PEMESANAN </a:t>
            </a:r>
          </a:p>
        </p:txBody>
      </p:sp>
      <p:sp>
        <p:nvSpPr>
          <p:cNvPr name="TextBox 16" id="16"/>
          <p:cNvSpPr txBox="true"/>
          <p:nvPr/>
        </p:nvSpPr>
        <p:spPr>
          <a:xfrm rot="-270511">
            <a:off x="3962345" y="3297776"/>
            <a:ext cx="10355822" cy="6380565"/>
          </a:xfrm>
          <a:prstGeom prst="rect">
            <a:avLst/>
          </a:prstGeom>
        </p:spPr>
        <p:txBody>
          <a:bodyPr anchor="t" rtlCol="false" tIns="0" lIns="0" bIns="0" rIns="0">
            <a:spAutoFit/>
          </a:bodyPr>
          <a:lstStyle/>
          <a:p>
            <a:pPr algn="ctr">
              <a:lnSpc>
                <a:spcPts val="6365"/>
              </a:lnSpc>
            </a:pPr>
            <a:r>
              <a:rPr lang="en-US" sz="4546">
                <a:solidFill>
                  <a:srgbClr val="51511B"/>
                </a:solidFill>
                <a:latin typeface="Glass Antiqua"/>
                <a:ea typeface="Glass Antiqua"/>
                <a:cs typeface="Glass Antiqua"/>
                <a:sym typeface="Glass Antiqua"/>
              </a:rPr>
              <a:t>My Tickets menjadi solusi inovatif dalam digitalisasi sistem transportasi dengan menghadirkan layanan pemesanan tiket yang cepat, praktis, dan terintegrasi. Aplikasi ini mendukung transformasi menuju Smart Mobility serta meningkatkan efisiensi dan kenyamanan pengguna.</a:t>
            </a:r>
          </a:p>
          <a:p>
            <a:pPr algn="ctr">
              <a:lnSpc>
                <a:spcPts val="636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4511293" y="4175379"/>
            <a:ext cx="7842412" cy="4720315"/>
          </a:xfrm>
          <a:custGeom>
            <a:avLst/>
            <a:gdLst/>
            <a:ahLst/>
            <a:cxnLst/>
            <a:rect r="r" b="b" t="t" l="l"/>
            <a:pathLst>
              <a:path h="4720315" w="7842412">
                <a:moveTo>
                  <a:pt x="0" y="0"/>
                </a:moveTo>
                <a:lnTo>
                  <a:pt x="7842412" y="0"/>
                </a:lnTo>
                <a:lnTo>
                  <a:pt x="7842412" y="4720314"/>
                </a:lnTo>
                <a:lnTo>
                  <a:pt x="0" y="4720314"/>
                </a:lnTo>
                <a:lnTo>
                  <a:pt x="0" y="0"/>
                </a:lnTo>
                <a:close/>
              </a:path>
            </a:pathLst>
          </a:custGeom>
          <a:blipFill>
            <a:blip r:embed="rId16"/>
            <a:stretch>
              <a:fillRect l="0" t="0" r="0" b="0"/>
            </a:stretch>
          </a:blipFill>
        </p:spPr>
      </p:sp>
      <p:sp>
        <p:nvSpPr>
          <p:cNvPr name="TextBox 16" id="16"/>
          <p:cNvSpPr txBox="true"/>
          <p:nvPr/>
        </p:nvSpPr>
        <p:spPr>
          <a:xfrm rot="-271391">
            <a:off x="3170352"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MODEL DATA</a:t>
            </a:r>
          </a:p>
        </p:txBody>
      </p:sp>
      <p:sp>
        <p:nvSpPr>
          <p:cNvPr name="TextBox 17" id="17"/>
          <p:cNvSpPr txBox="true"/>
          <p:nvPr/>
        </p:nvSpPr>
        <p:spPr>
          <a:xfrm rot="-270511">
            <a:off x="600471" y="3311964"/>
            <a:ext cx="8873892" cy="672371"/>
          </a:xfrm>
          <a:prstGeom prst="rect">
            <a:avLst/>
          </a:prstGeom>
        </p:spPr>
        <p:txBody>
          <a:bodyPr anchor="t" rtlCol="false" tIns="0" lIns="0" bIns="0" rIns="0">
            <a:spAutoFit/>
          </a:bodyPr>
          <a:lstStyle/>
          <a:p>
            <a:pPr algn="ctr">
              <a:lnSpc>
                <a:spcPts val="5454"/>
              </a:lnSpc>
            </a:pPr>
            <a:r>
              <a:rPr lang="en-US" sz="3896">
                <a:solidFill>
                  <a:srgbClr val="51511B"/>
                </a:solidFill>
                <a:latin typeface="Glass Antiqua"/>
                <a:ea typeface="Glass Antiqua"/>
                <a:cs typeface="Glass Antiqua"/>
                <a:sym typeface="Glass Antiqua"/>
              </a:rPr>
              <a:t>model data user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5040786" y="4276583"/>
            <a:ext cx="5511640" cy="5589269"/>
          </a:xfrm>
          <a:custGeom>
            <a:avLst/>
            <a:gdLst/>
            <a:ahLst/>
            <a:cxnLst/>
            <a:rect r="r" b="b" t="t" l="l"/>
            <a:pathLst>
              <a:path h="5589269" w="5511640">
                <a:moveTo>
                  <a:pt x="0" y="0"/>
                </a:moveTo>
                <a:lnTo>
                  <a:pt x="5511640" y="0"/>
                </a:lnTo>
                <a:lnTo>
                  <a:pt x="5511640" y="5589269"/>
                </a:lnTo>
                <a:lnTo>
                  <a:pt x="0" y="5589269"/>
                </a:lnTo>
                <a:lnTo>
                  <a:pt x="0" y="0"/>
                </a:lnTo>
                <a:close/>
              </a:path>
            </a:pathLst>
          </a:custGeom>
          <a:blipFill>
            <a:blip r:embed="rId16"/>
            <a:stretch>
              <a:fillRect l="0" t="0" r="0" b="0"/>
            </a:stretch>
          </a:blipFill>
        </p:spPr>
      </p:sp>
      <p:sp>
        <p:nvSpPr>
          <p:cNvPr name="TextBox 16" id="16"/>
          <p:cNvSpPr txBox="true"/>
          <p:nvPr/>
        </p:nvSpPr>
        <p:spPr>
          <a:xfrm rot="-271391">
            <a:off x="3170352"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MODEL DATA</a:t>
            </a:r>
          </a:p>
        </p:txBody>
      </p:sp>
      <p:sp>
        <p:nvSpPr>
          <p:cNvPr name="TextBox 17" id="17"/>
          <p:cNvSpPr txBox="true"/>
          <p:nvPr/>
        </p:nvSpPr>
        <p:spPr>
          <a:xfrm rot="-270511">
            <a:off x="600471" y="3311964"/>
            <a:ext cx="8873892" cy="672371"/>
          </a:xfrm>
          <a:prstGeom prst="rect">
            <a:avLst/>
          </a:prstGeom>
        </p:spPr>
        <p:txBody>
          <a:bodyPr anchor="t" rtlCol="false" tIns="0" lIns="0" bIns="0" rIns="0">
            <a:spAutoFit/>
          </a:bodyPr>
          <a:lstStyle/>
          <a:p>
            <a:pPr algn="ctr">
              <a:lnSpc>
                <a:spcPts val="5454"/>
              </a:lnSpc>
            </a:pPr>
            <a:r>
              <a:rPr lang="en-US" sz="3896">
                <a:solidFill>
                  <a:srgbClr val="51511B"/>
                </a:solidFill>
                <a:latin typeface="Glass Antiqua"/>
                <a:ea typeface="Glass Antiqua"/>
                <a:cs typeface="Glass Antiqua"/>
                <a:sym typeface="Glass Antiqua"/>
              </a:rPr>
              <a:t>model data Bus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4020925" y="4643084"/>
            <a:ext cx="8860602" cy="2742567"/>
          </a:xfrm>
          <a:custGeom>
            <a:avLst/>
            <a:gdLst/>
            <a:ahLst/>
            <a:cxnLst/>
            <a:rect r="r" b="b" t="t" l="l"/>
            <a:pathLst>
              <a:path h="2742567" w="8860602">
                <a:moveTo>
                  <a:pt x="0" y="0"/>
                </a:moveTo>
                <a:lnTo>
                  <a:pt x="8860602" y="0"/>
                </a:lnTo>
                <a:lnTo>
                  <a:pt x="8860602" y="2742567"/>
                </a:lnTo>
                <a:lnTo>
                  <a:pt x="0" y="2742567"/>
                </a:lnTo>
                <a:lnTo>
                  <a:pt x="0" y="0"/>
                </a:lnTo>
                <a:close/>
              </a:path>
            </a:pathLst>
          </a:custGeom>
          <a:blipFill>
            <a:blip r:embed="rId16"/>
            <a:stretch>
              <a:fillRect l="0" t="0" r="0" b="0"/>
            </a:stretch>
          </a:blipFill>
        </p:spPr>
      </p:sp>
      <p:sp>
        <p:nvSpPr>
          <p:cNvPr name="TextBox 16" id="16"/>
          <p:cNvSpPr txBox="true"/>
          <p:nvPr/>
        </p:nvSpPr>
        <p:spPr>
          <a:xfrm rot="-271391">
            <a:off x="3170352"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MODEL DATA</a:t>
            </a:r>
          </a:p>
        </p:txBody>
      </p:sp>
      <p:sp>
        <p:nvSpPr>
          <p:cNvPr name="TextBox 17" id="17"/>
          <p:cNvSpPr txBox="true"/>
          <p:nvPr/>
        </p:nvSpPr>
        <p:spPr>
          <a:xfrm rot="-270511">
            <a:off x="562261" y="3622977"/>
            <a:ext cx="8873892" cy="672371"/>
          </a:xfrm>
          <a:prstGeom prst="rect">
            <a:avLst/>
          </a:prstGeom>
        </p:spPr>
        <p:txBody>
          <a:bodyPr anchor="t" rtlCol="false" tIns="0" lIns="0" bIns="0" rIns="0">
            <a:spAutoFit/>
          </a:bodyPr>
          <a:lstStyle/>
          <a:p>
            <a:pPr algn="ctr">
              <a:lnSpc>
                <a:spcPts val="5454"/>
              </a:lnSpc>
            </a:pPr>
            <a:r>
              <a:rPr lang="en-US" sz="3896">
                <a:solidFill>
                  <a:srgbClr val="51511B"/>
                </a:solidFill>
                <a:latin typeface="Glass Antiqua"/>
                <a:ea typeface="Glass Antiqua"/>
                <a:cs typeface="Glass Antiqua"/>
                <a:sym typeface="Glass Antiqua"/>
              </a:rPr>
              <a:t>model data Kota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4791875" y="4549099"/>
            <a:ext cx="7281246" cy="5044237"/>
          </a:xfrm>
          <a:custGeom>
            <a:avLst/>
            <a:gdLst/>
            <a:ahLst/>
            <a:cxnLst/>
            <a:rect r="r" b="b" t="t" l="l"/>
            <a:pathLst>
              <a:path h="5044237" w="7281246">
                <a:moveTo>
                  <a:pt x="0" y="0"/>
                </a:moveTo>
                <a:lnTo>
                  <a:pt x="7281247" y="0"/>
                </a:lnTo>
                <a:lnTo>
                  <a:pt x="7281247" y="5044237"/>
                </a:lnTo>
                <a:lnTo>
                  <a:pt x="0" y="5044237"/>
                </a:lnTo>
                <a:lnTo>
                  <a:pt x="0" y="0"/>
                </a:lnTo>
                <a:close/>
              </a:path>
            </a:pathLst>
          </a:custGeom>
          <a:blipFill>
            <a:blip r:embed="rId16"/>
            <a:stretch>
              <a:fillRect l="0" t="0" r="0" b="0"/>
            </a:stretch>
          </a:blipFill>
        </p:spPr>
      </p:sp>
      <p:sp>
        <p:nvSpPr>
          <p:cNvPr name="TextBox 16" id="16"/>
          <p:cNvSpPr txBox="true"/>
          <p:nvPr/>
        </p:nvSpPr>
        <p:spPr>
          <a:xfrm rot="-271391">
            <a:off x="3170352"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MODEL DATA</a:t>
            </a:r>
          </a:p>
        </p:txBody>
      </p:sp>
      <p:sp>
        <p:nvSpPr>
          <p:cNvPr name="TextBox 17" id="17"/>
          <p:cNvSpPr txBox="true"/>
          <p:nvPr/>
        </p:nvSpPr>
        <p:spPr>
          <a:xfrm rot="-270511">
            <a:off x="562261" y="3622977"/>
            <a:ext cx="8873892" cy="672371"/>
          </a:xfrm>
          <a:prstGeom prst="rect">
            <a:avLst/>
          </a:prstGeom>
        </p:spPr>
        <p:txBody>
          <a:bodyPr anchor="t" rtlCol="false" tIns="0" lIns="0" bIns="0" rIns="0">
            <a:spAutoFit/>
          </a:bodyPr>
          <a:lstStyle/>
          <a:p>
            <a:pPr algn="ctr">
              <a:lnSpc>
                <a:spcPts val="5454"/>
              </a:lnSpc>
            </a:pPr>
            <a:r>
              <a:rPr lang="en-US" sz="3896">
                <a:solidFill>
                  <a:srgbClr val="51511B"/>
                </a:solidFill>
                <a:latin typeface="Glass Antiqua"/>
                <a:ea typeface="Glass Antiqua"/>
                <a:cs typeface="Glass Antiqua"/>
                <a:sym typeface="Glass Antiqua"/>
              </a:rPr>
              <a:t>model data Promo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6825643" y="3375985"/>
            <a:ext cx="3814125" cy="6445472"/>
          </a:xfrm>
          <a:custGeom>
            <a:avLst/>
            <a:gdLst/>
            <a:ahLst/>
            <a:cxnLst/>
            <a:rect r="r" b="b" t="t" l="l"/>
            <a:pathLst>
              <a:path h="6445472" w="3814125">
                <a:moveTo>
                  <a:pt x="0" y="0"/>
                </a:moveTo>
                <a:lnTo>
                  <a:pt x="3814125" y="0"/>
                </a:lnTo>
                <a:lnTo>
                  <a:pt x="3814125" y="6445472"/>
                </a:lnTo>
                <a:lnTo>
                  <a:pt x="0" y="6445472"/>
                </a:lnTo>
                <a:lnTo>
                  <a:pt x="0" y="0"/>
                </a:lnTo>
                <a:close/>
              </a:path>
            </a:pathLst>
          </a:custGeom>
          <a:blipFill>
            <a:blip r:embed="rId16"/>
            <a:stretch>
              <a:fillRect l="0" t="0" r="0" b="0"/>
            </a:stretch>
          </a:blipFill>
        </p:spPr>
      </p:sp>
      <p:sp>
        <p:nvSpPr>
          <p:cNvPr name="TextBox 16" id="16"/>
          <p:cNvSpPr txBox="true"/>
          <p:nvPr/>
        </p:nvSpPr>
        <p:spPr>
          <a:xfrm rot="-271391">
            <a:off x="3170352" y="1564743"/>
            <a:ext cx="11523084"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MODEL DATA</a:t>
            </a:r>
          </a:p>
        </p:txBody>
      </p:sp>
      <p:sp>
        <p:nvSpPr>
          <p:cNvPr name="TextBox 17" id="17"/>
          <p:cNvSpPr txBox="true"/>
          <p:nvPr/>
        </p:nvSpPr>
        <p:spPr>
          <a:xfrm rot="-270511">
            <a:off x="562261" y="3103354"/>
            <a:ext cx="8873892" cy="672371"/>
          </a:xfrm>
          <a:prstGeom prst="rect">
            <a:avLst/>
          </a:prstGeom>
        </p:spPr>
        <p:txBody>
          <a:bodyPr anchor="t" rtlCol="false" tIns="0" lIns="0" bIns="0" rIns="0">
            <a:spAutoFit/>
          </a:bodyPr>
          <a:lstStyle/>
          <a:p>
            <a:pPr algn="ctr">
              <a:lnSpc>
                <a:spcPts val="5454"/>
              </a:lnSpc>
            </a:pPr>
            <a:r>
              <a:rPr lang="en-US" sz="3896">
                <a:solidFill>
                  <a:srgbClr val="51511B"/>
                </a:solidFill>
                <a:latin typeface="Glass Antiqua"/>
                <a:ea typeface="Glass Antiqua"/>
                <a:cs typeface="Glass Antiqua"/>
                <a:sym typeface="Glass Antiqua"/>
              </a:rPr>
              <a:t>model data Tickets</a:t>
            </a:r>
          </a:p>
        </p:txBody>
      </p:sp>
      <p:sp>
        <p:nvSpPr>
          <p:cNvPr name="TextBox 18" id="18"/>
          <p:cNvSpPr txBox="true"/>
          <p:nvPr/>
        </p:nvSpPr>
        <p:spPr>
          <a:xfrm rot="-270511">
            <a:off x="11527046" y="4121418"/>
            <a:ext cx="10355822" cy="6380565"/>
          </a:xfrm>
          <a:prstGeom prst="rect">
            <a:avLst/>
          </a:prstGeom>
        </p:spPr>
        <p:txBody>
          <a:bodyPr anchor="t" rtlCol="false" tIns="0" lIns="0" bIns="0" rIns="0">
            <a:spAutoFit/>
          </a:bodyPr>
          <a:lstStyle/>
          <a:p>
            <a:pPr algn="ctr">
              <a:lnSpc>
                <a:spcPts val="6365"/>
              </a:lnSpc>
            </a:pPr>
            <a:r>
              <a:rPr lang="en-US" sz="4546">
                <a:solidFill>
                  <a:srgbClr val="51511B"/>
                </a:solidFill>
                <a:latin typeface="Glass Antiqua"/>
                <a:ea typeface="Glass Antiqua"/>
                <a:cs typeface="Glass Antiqua"/>
                <a:sym typeface="Glass Antiqua"/>
              </a:rPr>
              <a:t>•Penggunamencaritiketberdasarkanrute dan tanggal.</a:t>
            </a:r>
          </a:p>
          <a:p>
            <a:pPr algn="ctr">
              <a:lnSpc>
                <a:spcPts val="6365"/>
              </a:lnSpc>
            </a:pPr>
            <a:r>
              <a:rPr lang="en-US" sz="4546">
                <a:solidFill>
                  <a:srgbClr val="51511B"/>
                </a:solidFill>
                <a:latin typeface="Glass Antiqua"/>
                <a:ea typeface="Glass Antiqua"/>
                <a:cs typeface="Glass Antiqua"/>
                <a:sym typeface="Glass Antiqua"/>
              </a:rPr>
              <a:t>•Memilihjadwal bus yang tersedia.</a:t>
            </a:r>
          </a:p>
          <a:p>
            <a:pPr algn="ctr">
              <a:lnSpc>
                <a:spcPts val="6365"/>
              </a:lnSpc>
            </a:pPr>
            <a:r>
              <a:rPr lang="en-US" sz="4546">
                <a:solidFill>
                  <a:srgbClr val="51511B"/>
                </a:solidFill>
                <a:latin typeface="Glass Antiqua"/>
                <a:ea typeface="Glass Antiqua"/>
                <a:cs typeface="Glass Antiqua"/>
                <a:sym typeface="Glass Antiqua"/>
              </a:rPr>
              <a:t>•Memilihkursisecarainteraktif.</a:t>
            </a:r>
          </a:p>
          <a:p>
            <a:pPr algn="ctr">
              <a:lnSpc>
                <a:spcPts val="6365"/>
              </a:lnSpc>
            </a:pPr>
            <a:r>
              <a:rPr lang="en-US" sz="4546">
                <a:solidFill>
                  <a:srgbClr val="51511B"/>
                </a:solidFill>
                <a:latin typeface="Glass Antiqua"/>
                <a:ea typeface="Glass Antiqua"/>
                <a:cs typeface="Glass Antiqua"/>
                <a:sym typeface="Glass Antiqua"/>
              </a:rPr>
              <a:t>•Melakukan pembayaran digital.</a:t>
            </a:r>
          </a:p>
          <a:p>
            <a:pPr algn="ctr">
              <a:lnSpc>
                <a:spcPts val="6365"/>
              </a:lnSpc>
            </a:pPr>
            <a:r>
              <a:rPr lang="en-US" sz="4546">
                <a:solidFill>
                  <a:srgbClr val="51511B"/>
                </a:solidFill>
                <a:latin typeface="Glass Antiqua"/>
                <a:ea typeface="Glass Antiqua"/>
                <a:cs typeface="Glass Antiqua"/>
                <a:sym typeface="Glass Antiqua"/>
              </a:rPr>
              <a:t>•Mendapatkankonfirmasi dan E-Ticket digital.</a:t>
            </a:r>
          </a:p>
          <a:p>
            <a:pPr algn="ctr">
              <a:lnSpc>
                <a:spcPts val="6365"/>
              </a:lnSpc>
            </a:pPr>
          </a:p>
          <a:p>
            <a:pPr algn="ctr">
              <a:lnSpc>
                <a:spcPts val="6365"/>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5016602" y="3721770"/>
            <a:ext cx="2868577" cy="6356958"/>
          </a:xfrm>
          <a:custGeom>
            <a:avLst/>
            <a:gdLst/>
            <a:ahLst/>
            <a:cxnLst/>
            <a:rect r="r" b="b" t="t" l="l"/>
            <a:pathLst>
              <a:path h="6356958" w="2868577">
                <a:moveTo>
                  <a:pt x="0" y="0"/>
                </a:moveTo>
                <a:lnTo>
                  <a:pt x="2868577" y="0"/>
                </a:lnTo>
                <a:lnTo>
                  <a:pt x="2868577" y="6356958"/>
                </a:lnTo>
                <a:lnTo>
                  <a:pt x="0" y="6356958"/>
                </a:lnTo>
                <a:lnTo>
                  <a:pt x="0" y="0"/>
                </a:lnTo>
                <a:close/>
              </a:path>
            </a:pathLst>
          </a:custGeom>
          <a:blipFill>
            <a:blip r:embed="rId16"/>
            <a:stretch>
              <a:fillRect l="0" t="0" r="0" b="0"/>
            </a:stretch>
          </a:blipFill>
        </p:spPr>
      </p:sp>
      <p:sp>
        <p:nvSpPr>
          <p:cNvPr name="Freeform 16" id="16"/>
          <p:cNvSpPr/>
          <p:nvPr/>
        </p:nvSpPr>
        <p:spPr>
          <a:xfrm flipH="false" flipV="false" rot="0">
            <a:off x="10419112" y="3596353"/>
            <a:ext cx="2868577" cy="6356958"/>
          </a:xfrm>
          <a:custGeom>
            <a:avLst/>
            <a:gdLst/>
            <a:ahLst/>
            <a:cxnLst/>
            <a:rect r="r" b="b" t="t" l="l"/>
            <a:pathLst>
              <a:path h="6356958" w="2868577">
                <a:moveTo>
                  <a:pt x="0" y="0"/>
                </a:moveTo>
                <a:lnTo>
                  <a:pt x="2868578" y="0"/>
                </a:lnTo>
                <a:lnTo>
                  <a:pt x="2868578" y="6356958"/>
                </a:lnTo>
                <a:lnTo>
                  <a:pt x="0" y="6356958"/>
                </a:lnTo>
                <a:lnTo>
                  <a:pt x="0" y="0"/>
                </a:lnTo>
                <a:close/>
              </a:path>
            </a:pathLst>
          </a:custGeom>
          <a:blipFill>
            <a:blip r:embed="rId17"/>
            <a:stretch>
              <a:fillRect l="0" t="0" r="0" b="0"/>
            </a:stretch>
          </a:blipFill>
        </p:spPr>
      </p:sp>
      <p:sp>
        <p:nvSpPr>
          <p:cNvPr name="TextBox 17" id="17"/>
          <p:cNvSpPr txBox="true"/>
          <p:nvPr/>
        </p:nvSpPr>
        <p:spPr>
          <a:xfrm rot="-271391">
            <a:off x="2405742" y="608125"/>
            <a:ext cx="12616132" cy="2494642"/>
          </a:xfrm>
          <a:prstGeom prst="rect">
            <a:avLst/>
          </a:prstGeom>
        </p:spPr>
        <p:txBody>
          <a:bodyPr anchor="t" rtlCol="false" tIns="0" lIns="0" bIns="0" rIns="0">
            <a:spAutoFit/>
          </a:bodyPr>
          <a:lstStyle/>
          <a:p>
            <a:pPr algn="ctr">
              <a:lnSpc>
                <a:spcPts val="9185"/>
              </a:lnSpc>
            </a:pPr>
            <a:r>
              <a:rPr lang="en-US" sz="12086">
                <a:solidFill>
                  <a:srgbClr val="483E2B"/>
                </a:solidFill>
                <a:latin typeface="Art Nuvo Letterpress"/>
                <a:ea typeface="Art Nuvo Letterpress"/>
                <a:cs typeface="Art Nuvo Letterpress"/>
                <a:sym typeface="Art Nuvo Letterpress"/>
              </a:rPr>
              <a:t>ALUR PENGGUNA APLIKASI MY TICKETS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3574013" y="2325172"/>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4601715" y="3930042"/>
            <a:ext cx="2876524" cy="6356958"/>
          </a:xfrm>
          <a:custGeom>
            <a:avLst/>
            <a:gdLst/>
            <a:ahLst/>
            <a:cxnLst/>
            <a:rect r="r" b="b" t="t" l="l"/>
            <a:pathLst>
              <a:path h="6356958" w="2876524">
                <a:moveTo>
                  <a:pt x="0" y="0"/>
                </a:moveTo>
                <a:lnTo>
                  <a:pt x="2876524" y="0"/>
                </a:lnTo>
                <a:lnTo>
                  <a:pt x="2876524" y="6356958"/>
                </a:lnTo>
                <a:lnTo>
                  <a:pt x="0" y="6356958"/>
                </a:lnTo>
                <a:lnTo>
                  <a:pt x="0" y="0"/>
                </a:lnTo>
                <a:close/>
              </a:path>
            </a:pathLst>
          </a:custGeom>
          <a:blipFill>
            <a:blip r:embed="rId16"/>
            <a:stretch>
              <a:fillRect l="0" t="0" r="0" b="0"/>
            </a:stretch>
          </a:blipFill>
        </p:spPr>
      </p:sp>
      <p:sp>
        <p:nvSpPr>
          <p:cNvPr name="Freeform 16" id="16"/>
          <p:cNvSpPr/>
          <p:nvPr/>
        </p:nvSpPr>
        <p:spPr>
          <a:xfrm flipH="false" flipV="false" rot="0">
            <a:off x="8597284" y="3892738"/>
            <a:ext cx="2876524" cy="6356958"/>
          </a:xfrm>
          <a:custGeom>
            <a:avLst/>
            <a:gdLst/>
            <a:ahLst/>
            <a:cxnLst/>
            <a:rect r="r" b="b" t="t" l="l"/>
            <a:pathLst>
              <a:path h="6356958" w="2876524">
                <a:moveTo>
                  <a:pt x="0" y="0"/>
                </a:moveTo>
                <a:lnTo>
                  <a:pt x="2876524" y="0"/>
                </a:lnTo>
                <a:lnTo>
                  <a:pt x="2876524" y="6356958"/>
                </a:lnTo>
                <a:lnTo>
                  <a:pt x="0" y="6356958"/>
                </a:lnTo>
                <a:lnTo>
                  <a:pt x="0" y="0"/>
                </a:lnTo>
                <a:close/>
              </a:path>
            </a:pathLst>
          </a:custGeom>
          <a:blipFill>
            <a:blip r:embed="rId17"/>
            <a:stretch>
              <a:fillRect l="0" t="0" r="0" b="0"/>
            </a:stretch>
          </a:blipFill>
        </p:spPr>
      </p:sp>
      <p:sp>
        <p:nvSpPr>
          <p:cNvPr name="Freeform 17" id="17"/>
          <p:cNvSpPr/>
          <p:nvPr/>
        </p:nvSpPr>
        <p:spPr>
          <a:xfrm flipH="false" flipV="false" rot="0">
            <a:off x="12386717" y="3892738"/>
            <a:ext cx="2781169" cy="6356958"/>
          </a:xfrm>
          <a:custGeom>
            <a:avLst/>
            <a:gdLst/>
            <a:ahLst/>
            <a:cxnLst/>
            <a:rect r="r" b="b" t="t" l="l"/>
            <a:pathLst>
              <a:path h="6356958" w="2781169">
                <a:moveTo>
                  <a:pt x="0" y="0"/>
                </a:moveTo>
                <a:lnTo>
                  <a:pt x="2781169" y="0"/>
                </a:lnTo>
                <a:lnTo>
                  <a:pt x="2781169" y="6356958"/>
                </a:lnTo>
                <a:lnTo>
                  <a:pt x="0" y="6356958"/>
                </a:lnTo>
                <a:lnTo>
                  <a:pt x="0" y="0"/>
                </a:lnTo>
                <a:close/>
              </a:path>
            </a:pathLst>
          </a:custGeom>
          <a:blipFill>
            <a:blip r:embed="rId18"/>
            <a:stretch>
              <a:fillRect l="0" t="0" r="0" b="0"/>
            </a:stretch>
          </a:blipFill>
        </p:spPr>
      </p:sp>
      <p:sp>
        <p:nvSpPr>
          <p:cNvPr name="TextBox 18" id="18"/>
          <p:cNvSpPr txBox="true"/>
          <p:nvPr/>
        </p:nvSpPr>
        <p:spPr>
          <a:xfrm rot="-271391">
            <a:off x="1225683" y="746721"/>
            <a:ext cx="15879451" cy="2736980"/>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ALUR PENGGUNA APLIKASI MY TICKETS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3940976" y="2800225"/>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3851635" y="3892738"/>
            <a:ext cx="2884470" cy="6356958"/>
          </a:xfrm>
          <a:custGeom>
            <a:avLst/>
            <a:gdLst/>
            <a:ahLst/>
            <a:cxnLst/>
            <a:rect r="r" b="b" t="t" l="l"/>
            <a:pathLst>
              <a:path h="6356958" w="2884470">
                <a:moveTo>
                  <a:pt x="0" y="0"/>
                </a:moveTo>
                <a:lnTo>
                  <a:pt x="2884469" y="0"/>
                </a:lnTo>
                <a:lnTo>
                  <a:pt x="2884469" y="6356958"/>
                </a:lnTo>
                <a:lnTo>
                  <a:pt x="0" y="6356958"/>
                </a:lnTo>
                <a:lnTo>
                  <a:pt x="0" y="0"/>
                </a:lnTo>
                <a:close/>
              </a:path>
            </a:pathLst>
          </a:custGeom>
          <a:blipFill>
            <a:blip r:embed="rId16"/>
            <a:stretch>
              <a:fillRect l="0" t="0" r="0" b="0"/>
            </a:stretch>
          </a:blipFill>
        </p:spPr>
      </p:sp>
      <p:sp>
        <p:nvSpPr>
          <p:cNvPr name="Freeform 16" id="16"/>
          <p:cNvSpPr/>
          <p:nvPr/>
        </p:nvSpPr>
        <p:spPr>
          <a:xfrm flipH="false" flipV="false" rot="0">
            <a:off x="7500043" y="3892738"/>
            <a:ext cx="2876524" cy="6356958"/>
          </a:xfrm>
          <a:custGeom>
            <a:avLst/>
            <a:gdLst/>
            <a:ahLst/>
            <a:cxnLst/>
            <a:rect r="r" b="b" t="t" l="l"/>
            <a:pathLst>
              <a:path h="6356958" w="2876524">
                <a:moveTo>
                  <a:pt x="0" y="0"/>
                </a:moveTo>
                <a:lnTo>
                  <a:pt x="2876523" y="0"/>
                </a:lnTo>
                <a:lnTo>
                  <a:pt x="2876523" y="6356958"/>
                </a:lnTo>
                <a:lnTo>
                  <a:pt x="0" y="6356958"/>
                </a:lnTo>
                <a:lnTo>
                  <a:pt x="0" y="0"/>
                </a:lnTo>
                <a:close/>
              </a:path>
            </a:pathLst>
          </a:custGeom>
          <a:blipFill>
            <a:blip r:embed="rId17"/>
            <a:stretch>
              <a:fillRect l="0" t="0" r="0" b="0"/>
            </a:stretch>
          </a:blipFill>
        </p:spPr>
      </p:sp>
      <p:sp>
        <p:nvSpPr>
          <p:cNvPr name="Freeform 17" id="17"/>
          <p:cNvSpPr/>
          <p:nvPr/>
        </p:nvSpPr>
        <p:spPr>
          <a:xfrm flipH="false" flipV="false" rot="0">
            <a:off x="10810669" y="3968392"/>
            <a:ext cx="2966632" cy="6281304"/>
          </a:xfrm>
          <a:custGeom>
            <a:avLst/>
            <a:gdLst/>
            <a:ahLst/>
            <a:cxnLst/>
            <a:rect r="r" b="b" t="t" l="l"/>
            <a:pathLst>
              <a:path h="6281304" w="2966632">
                <a:moveTo>
                  <a:pt x="0" y="0"/>
                </a:moveTo>
                <a:lnTo>
                  <a:pt x="2966632" y="0"/>
                </a:lnTo>
                <a:lnTo>
                  <a:pt x="2966632" y="6281304"/>
                </a:lnTo>
                <a:lnTo>
                  <a:pt x="0" y="6281304"/>
                </a:lnTo>
                <a:lnTo>
                  <a:pt x="0" y="0"/>
                </a:lnTo>
                <a:close/>
              </a:path>
            </a:pathLst>
          </a:custGeom>
          <a:blipFill>
            <a:blip r:embed="rId18"/>
            <a:stretch>
              <a:fillRect l="0" t="0" r="0" b="0"/>
            </a:stretch>
          </a:blipFill>
        </p:spPr>
      </p:sp>
      <p:sp>
        <p:nvSpPr>
          <p:cNvPr name="TextBox 18" id="18"/>
          <p:cNvSpPr txBox="true"/>
          <p:nvPr/>
        </p:nvSpPr>
        <p:spPr>
          <a:xfrm rot="-271391">
            <a:off x="2159010" y="820326"/>
            <a:ext cx="14012796" cy="2736980"/>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ALUR PENGGUNA APLIKASI MY TICKETS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3940976" y="2800225"/>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2159010" y="820326"/>
            <a:ext cx="14012796" cy="2736980"/>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ALUR PENGGUNA APLIKASI MY TICKETS</a:t>
            </a:r>
          </a:p>
        </p:txBody>
      </p:sp>
      <p:sp>
        <p:nvSpPr>
          <p:cNvPr name="Freeform 16" id="16"/>
          <p:cNvSpPr/>
          <p:nvPr/>
        </p:nvSpPr>
        <p:spPr>
          <a:xfrm flipH="false" flipV="false" rot="0">
            <a:off x="4509987" y="3892738"/>
            <a:ext cx="2968252" cy="6344540"/>
          </a:xfrm>
          <a:custGeom>
            <a:avLst/>
            <a:gdLst/>
            <a:ahLst/>
            <a:cxnLst/>
            <a:rect r="r" b="b" t="t" l="l"/>
            <a:pathLst>
              <a:path h="6344540" w="2968252">
                <a:moveTo>
                  <a:pt x="0" y="0"/>
                </a:moveTo>
                <a:lnTo>
                  <a:pt x="2968252" y="0"/>
                </a:lnTo>
                <a:lnTo>
                  <a:pt x="2968252" y="6344540"/>
                </a:lnTo>
                <a:lnTo>
                  <a:pt x="0" y="6344540"/>
                </a:lnTo>
                <a:lnTo>
                  <a:pt x="0" y="0"/>
                </a:lnTo>
                <a:close/>
              </a:path>
            </a:pathLst>
          </a:custGeom>
          <a:blipFill>
            <a:blip r:embed="rId16"/>
            <a:stretch>
              <a:fillRect l="0" t="0" r="0" b="0"/>
            </a:stretch>
          </a:blipFill>
        </p:spPr>
      </p:sp>
      <p:sp>
        <p:nvSpPr>
          <p:cNvPr name="Freeform 17" id="17"/>
          <p:cNvSpPr/>
          <p:nvPr/>
        </p:nvSpPr>
        <p:spPr>
          <a:xfrm flipH="false" flipV="false" rot="0">
            <a:off x="8374439" y="3950935"/>
            <a:ext cx="3035492" cy="6240564"/>
          </a:xfrm>
          <a:custGeom>
            <a:avLst/>
            <a:gdLst/>
            <a:ahLst/>
            <a:cxnLst/>
            <a:rect r="r" b="b" t="t" l="l"/>
            <a:pathLst>
              <a:path h="6240564" w="3035492">
                <a:moveTo>
                  <a:pt x="0" y="0"/>
                </a:moveTo>
                <a:lnTo>
                  <a:pt x="3035491" y="0"/>
                </a:lnTo>
                <a:lnTo>
                  <a:pt x="3035491" y="6240564"/>
                </a:lnTo>
                <a:lnTo>
                  <a:pt x="0" y="6240564"/>
                </a:lnTo>
                <a:lnTo>
                  <a:pt x="0" y="0"/>
                </a:lnTo>
                <a:close/>
              </a:path>
            </a:pathLst>
          </a:custGeom>
          <a:blipFill>
            <a:blip r:embed="rId17"/>
            <a:stretch>
              <a:fillRect l="0" t="0" r="0" b="0"/>
            </a:stretch>
          </a:blipFill>
        </p:spPr>
      </p:sp>
      <p:sp>
        <p:nvSpPr>
          <p:cNvPr name="Freeform 18" id="18"/>
          <p:cNvSpPr/>
          <p:nvPr/>
        </p:nvSpPr>
        <p:spPr>
          <a:xfrm flipH="false" flipV="false" rot="0">
            <a:off x="12306130" y="3994845"/>
            <a:ext cx="2981461" cy="6242433"/>
          </a:xfrm>
          <a:custGeom>
            <a:avLst/>
            <a:gdLst/>
            <a:ahLst/>
            <a:cxnLst/>
            <a:rect r="r" b="b" t="t" l="l"/>
            <a:pathLst>
              <a:path h="6242433" w="2981461">
                <a:moveTo>
                  <a:pt x="0" y="0"/>
                </a:moveTo>
                <a:lnTo>
                  <a:pt x="2981461" y="0"/>
                </a:lnTo>
                <a:lnTo>
                  <a:pt x="2981461" y="6242433"/>
                </a:lnTo>
                <a:lnTo>
                  <a:pt x="0" y="6242433"/>
                </a:lnTo>
                <a:lnTo>
                  <a:pt x="0" y="0"/>
                </a:lnTo>
                <a:close/>
              </a:path>
            </a:pathLst>
          </a:custGeom>
          <a:blipFill>
            <a:blip r:embed="rId18"/>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3940976" y="2800225"/>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2159010" y="820326"/>
            <a:ext cx="14012796" cy="2736980"/>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ALUR PENGGUNA APLIKASI MY TICKETS</a:t>
            </a:r>
          </a:p>
        </p:txBody>
      </p:sp>
      <p:sp>
        <p:nvSpPr>
          <p:cNvPr name="Freeform 16" id="16"/>
          <p:cNvSpPr/>
          <p:nvPr/>
        </p:nvSpPr>
        <p:spPr>
          <a:xfrm flipH="false" flipV="false" rot="0">
            <a:off x="7478239" y="3892738"/>
            <a:ext cx="2932147" cy="6356958"/>
          </a:xfrm>
          <a:custGeom>
            <a:avLst/>
            <a:gdLst/>
            <a:ahLst/>
            <a:cxnLst/>
            <a:rect r="r" b="b" t="t" l="l"/>
            <a:pathLst>
              <a:path h="6356958" w="2932147">
                <a:moveTo>
                  <a:pt x="0" y="0"/>
                </a:moveTo>
                <a:lnTo>
                  <a:pt x="2932147" y="0"/>
                </a:lnTo>
                <a:lnTo>
                  <a:pt x="2932147" y="6356958"/>
                </a:lnTo>
                <a:lnTo>
                  <a:pt x="0" y="6356958"/>
                </a:lnTo>
                <a:lnTo>
                  <a:pt x="0" y="0"/>
                </a:lnTo>
                <a:close/>
              </a:path>
            </a:pathLst>
          </a:custGeom>
          <a:blipFill>
            <a:blip r:embed="rId16"/>
            <a:stretch>
              <a:fillRect l="0" t="0" r="0" b="0"/>
            </a:stretch>
          </a:blipFill>
        </p:spPr>
      </p:sp>
      <p:sp>
        <p:nvSpPr>
          <p:cNvPr name="Freeform 17" id="17"/>
          <p:cNvSpPr/>
          <p:nvPr/>
        </p:nvSpPr>
        <p:spPr>
          <a:xfrm flipH="false" flipV="false" rot="0">
            <a:off x="4280102" y="3930042"/>
            <a:ext cx="2900362" cy="6356958"/>
          </a:xfrm>
          <a:custGeom>
            <a:avLst/>
            <a:gdLst/>
            <a:ahLst/>
            <a:cxnLst/>
            <a:rect r="r" b="b" t="t" l="l"/>
            <a:pathLst>
              <a:path h="6356958" w="2900362">
                <a:moveTo>
                  <a:pt x="0" y="0"/>
                </a:moveTo>
                <a:lnTo>
                  <a:pt x="2900362" y="0"/>
                </a:lnTo>
                <a:lnTo>
                  <a:pt x="2900362" y="6356958"/>
                </a:lnTo>
                <a:lnTo>
                  <a:pt x="0" y="6356958"/>
                </a:lnTo>
                <a:lnTo>
                  <a:pt x="0" y="0"/>
                </a:lnTo>
                <a:close/>
              </a:path>
            </a:pathLst>
          </a:custGeom>
          <a:blipFill>
            <a:blip r:embed="rId17"/>
            <a:stretch>
              <a:fillRect l="0" t="0" r="0" b="0"/>
            </a:stretch>
          </a:blipFill>
        </p:spPr>
      </p:sp>
      <p:sp>
        <p:nvSpPr>
          <p:cNvPr name="Freeform 18" id="18"/>
          <p:cNvSpPr/>
          <p:nvPr/>
        </p:nvSpPr>
        <p:spPr>
          <a:xfrm flipH="false" flipV="false" rot="0">
            <a:off x="10940509" y="3892738"/>
            <a:ext cx="2836793" cy="6356958"/>
          </a:xfrm>
          <a:custGeom>
            <a:avLst/>
            <a:gdLst/>
            <a:ahLst/>
            <a:cxnLst/>
            <a:rect r="r" b="b" t="t" l="l"/>
            <a:pathLst>
              <a:path h="6356958" w="2836793">
                <a:moveTo>
                  <a:pt x="0" y="0"/>
                </a:moveTo>
                <a:lnTo>
                  <a:pt x="2836792" y="0"/>
                </a:lnTo>
                <a:lnTo>
                  <a:pt x="2836792" y="6356958"/>
                </a:lnTo>
                <a:lnTo>
                  <a:pt x="0" y="6356958"/>
                </a:lnTo>
                <a:lnTo>
                  <a:pt x="0" y="0"/>
                </a:lnTo>
                <a:close/>
              </a:path>
            </a:pathLst>
          </a:custGeom>
          <a:blipFill>
            <a:blip r:embed="rId1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885755" y="5832333"/>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3798220" y="3706304"/>
            <a:ext cx="11301259" cy="5127946"/>
          </a:xfrm>
          <a:custGeom>
            <a:avLst/>
            <a:gdLst/>
            <a:ahLst/>
            <a:cxnLst/>
            <a:rect r="r" b="b" t="t" l="l"/>
            <a:pathLst>
              <a:path h="5127946" w="11301259">
                <a:moveTo>
                  <a:pt x="0" y="0"/>
                </a:moveTo>
                <a:lnTo>
                  <a:pt x="11301259" y="0"/>
                </a:lnTo>
                <a:lnTo>
                  <a:pt x="11301259" y="5127947"/>
                </a:lnTo>
                <a:lnTo>
                  <a:pt x="0" y="5127947"/>
                </a:lnTo>
                <a:lnTo>
                  <a:pt x="0" y="0"/>
                </a:lnTo>
                <a:close/>
              </a:path>
            </a:pathLst>
          </a:custGeom>
          <a:blipFill>
            <a:blip r:embed="rId16"/>
            <a:stretch>
              <a:fillRect l="0" t="0" r="0" b="0"/>
            </a:stretch>
          </a:blipFill>
        </p:spPr>
      </p:sp>
      <p:sp>
        <p:nvSpPr>
          <p:cNvPr name="TextBox 16" id="16"/>
          <p:cNvSpPr txBox="true"/>
          <p:nvPr/>
        </p:nvSpPr>
        <p:spPr>
          <a:xfrm rot="-271391">
            <a:off x="2108871" y="822306"/>
            <a:ext cx="14012796"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FIREBASE MY TICKETS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885755" y="5832333"/>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3443232" y="3375985"/>
            <a:ext cx="11301259" cy="5127946"/>
          </a:xfrm>
          <a:custGeom>
            <a:avLst/>
            <a:gdLst/>
            <a:ahLst/>
            <a:cxnLst/>
            <a:rect r="r" b="b" t="t" l="l"/>
            <a:pathLst>
              <a:path h="5127946" w="11301259">
                <a:moveTo>
                  <a:pt x="0" y="0"/>
                </a:moveTo>
                <a:lnTo>
                  <a:pt x="11301259" y="0"/>
                </a:lnTo>
                <a:lnTo>
                  <a:pt x="11301259" y="5127946"/>
                </a:lnTo>
                <a:lnTo>
                  <a:pt x="0" y="5127946"/>
                </a:lnTo>
                <a:lnTo>
                  <a:pt x="0" y="0"/>
                </a:lnTo>
                <a:close/>
              </a:path>
            </a:pathLst>
          </a:custGeom>
          <a:blipFill>
            <a:blip r:embed="rId16"/>
            <a:stretch>
              <a:fillRect l="0" t="0" r="0" b="0"/>
            </a:stretch>
          </a:blipFill>
        </p:spPr>
      </p:sp>
      <p:sp>
        <p:nvSpPr>
          <p:cNvPr name="TextBox 16" id="16"/>
          <p:cNvSpPr txBox="true"/>
          <p:nvPr/>
        </p:nvSpPr>
        <p:spPr>
          <a:xfrm rot="-271391">
            <a:off x="2108871" y="822306"/>
            <a:ext cx="14012796"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FIREBASE MY TICKETS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885755" y="5832333"/>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3493371" y="3375985"/>
            <a:ext cx="11301259" cy="5127946"/>
          </a:xfrm>
          <a:custGeom>
            <a:avLst/>
            <a:gdLst/>
            <a:ahLst/>
            <a:cxnLst/>
            <a:rect r="r" b="b" t="t" l="l"/>
            <a:pathLst>
              <a:path h="5127946" w="11301259">
                <a:moveTo>
                  <a:pt x="0" y="0"/>
                </a:moveTo>
                <a:lnTo>
                  <a:pt x="11301258" y="0"/>
                </a:lnTo>
                <a:lnTo>
                  <a:pt x="11301258" y="5127946"/>
                </a:lnTo>
                <a:lnTo>
                  <a:pt x="0" y="5127946"/>
                </a:lnTo>
                <a:lnTo>
                  <a:pt x="0" y="0"/>
                </a:lnTo>
                <a:close/>
              </a:path>
            </a:pathLst>
          </a:custGeom>
          <a:blipFill>
            <a:blip r:embed="rId16"/>
            <a:stretch>
              <a:fillRect l="0" t="0" r="0" b="0"/>
            </a:stretch>
          </a:blipFill>
        </p:spPr>
      </p:sp>
      <p:sp>
        <p:nvSpPr>
          <p:cNvPr name="TextBox 16" id="16"/>
          <p:cNvSpPr txBox="true"/>
          <p:nvPr/>
        </p:nvSpPr>
        <p:spPr>
          <a:xfrm rot="-271391">
            <a:off x="2108871" y="822306"/>
            <a:ext cx="14012796"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FIREBASE MY TICKETS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885755" y="5832333"/>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3443232" y="2838005"/>
            <a:ext cx="11301259" cy="5127946"/>
          </a:xfrm>
          <a:custGeom>
            <a:avLst/>
            <a:gdLst/>
            <a:ahLst/>
            <a:cxnLst/>
            <a:rect r="r" b="b" t="t" l="l"/>
            <a:pathLst>
              <a:path h="5127946" w="11301259">
                <a:moveTo>
                  <a:pt x="0" y="0"/>
                </a:moveTo>
                <a:lnTo>
                  <a:pt x="11301259" y="0"/>
                </a:lnTo>
                <a:lnTo>
                  <a:pt x="11301259" y="5127946"/>
                </a:lnTo>
                <a:lnTo>
                  <a:pt x="0" y="5127946"/>
                </a:lnTo>
                <a:lnTo>
                  <a:pt x="0" y="0"/>
                </a:lnTo>
                <a:close/>
              </a:path>
            </a:pathLst>
          </a:custGeom>
          <a:blipFill>
            <a:blip r:embed="rId16"/>
            <a:stretch>
              <a:fillRect l="0" t="0" r="0" b="0"/>
            </a:stretch>
          </a:blipFill>
        </p:spPr>
      </p:sp>
      <p:sp>
        <p:nvSpPr>
          <p:cNvPr name="TextBox 16" id="16"/>
          <p:cNvSpPr txBox="true"/>
          <p:nvPr/>
        </p:nvSpPr>
        <p:spPr>
          <a:xfrm rot="-271391">
            <a:off x="2108871" y="822306"/>
            <a:ext cx="14012796"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FIREBASE MY TICKETS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64426">
            <a:off x="2682466" y="1678879"/>
            <a:ext cx="12923067" cy="10784676"/>
            <a:chOff x="0" y="0"/>
            <a:chExt cx="3403606" cy="2840408"/>
          </a:xfrm>
        </p:grpSpPr>
        <p:sp>
          <p:nvSpPr>
            <p:cNvPr name="Freeform 4" id="4"/>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C6A879"/>
            </a:solidFill>
            <a:ln w="38100" cap="sq">
              <a:solidFill>
                <a:srgbClr val="000000"/>
              </a:solidFill>
              <a:prstDash val="solid"/>
              <a:miter/>
            </a:ln>
          </p:spPr>
        </p:sp>
        <p:sp>
          <p:nvSpPr>
            <p:cNvPr name="TextBox 5" id="5"/>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264426">
            <a:off x="2987316" y="1678879"/>
            <a:ext cx="12923067" cy="10784676"/>
            <a:chOff x="0" y="0"/>
            <a:chExt cx="3403606" cy="2840408"/>
          </a:xfrm>
        </p:grpSpPr>
        <p:sp>
          <p:nvSpPr>
            <p:cNvPr name="Freeform 8" id="8"/>
            <p:cNvSpPr/>
            <p:nvPr/>
          </p:nvSpPr>
          <p:spPr>
            <a:xfrm flipH="false" flipV="false" rot="0">
              <a:off x="0" y="0"/>
              <a:ext cx="3403606" cy="2840408"/>
            </a:xfrm>
            <a:custGeom>
              <a:avLst/>
              <a:gdLst/>
              <a:ahLst/>
              <a:cxnLst/>
              <a:rect r="r" b="b" t="t" l="l"/>
              <a:pathLst>
                <a:path h="2840408" w="3403606">
                  <a:moveTo>
                    <a:pt x="0" y="0"/>
                  </a:moveTo>
                  <a:lnTo>
                    <a:pt x="3403606" y="0"/>
                  </a:lnTo>
                  <a:lnTo>
                    <a:pt x="3403606" y="2840408"/>
                  </a:lnTo>
                  <a:lnTo>
                    <a:pt x="0" y="2840408"/>
                  </a:lnTo>
                  <a:close/>
                </a:path>
              </a:pathLst>
            </a:custGeom>
            <a:solidFill>
              <a:srgbClr val="DAC49D"/>
            </a:solidFill>
            <a:ln w="38100" cap="sq">
              <a:solidFill>
                <a:srgbClr val="000000"/>
              </a:solidFill>
              <a:prstDash val="solid"/>
              <a:miter/>
            </a:ln>
          </p:spPr>
        </p:sp>
        <p:sp>
          <p:nvSpPr>
            <p:cNvPr name="TextBox 9" id="9"/>
            <p:cNvSpPr txBox="true"/>
            <p:nvPr/>
          </p:nvSpPr>
          <p:spPr>
            <a:xfrm>
              <a:off x="0" y="-38100"/>
              <a:ext cx="3403606" cy="287850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885755" y="5832333"/>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271391">
            <a:off x="1952031" y="2593549"/>
            <a:ext cx="14012796" cy="1465438"/>
          </a:xfrm>
          <a:prstGeom prst="rect">
            <a:avLst/>
          </a:prstGeom>
        </p:spPr>
        <p:txBody>
          <a:bodyPr anchor="t" rtlCol="false" tIns="0" lIns="0" bIns="0" rIns="0">
            <a:spAutoFit/>
          </a:bodyPr>
          <a:lstStyle/>
          <a:p>
            <a:pPr algn="ctr">
              <a:lnSpc>
                <a:spcPts val="10021"/>
              </a:lnSpc>
            </a:pPr>
            <a:r>
              <a:rPr lang="en-US" sz="13185">
                <a:solidFill>
                  <a:srgbClr val="483E2B"/>
                </a:solidFill>
                <a:latin typeface="Art Nuvo Letterpress"/>
                <a:ea typeface="Art Nuvo Letterpress"/>
                <a:cs typeface="Art Nuvo Letterpress"/>
                <a:sym typeface="Art Nuvo Letterpress"/>
              </a:rPr>
              <a:t>KESIMPULAN</a:t>
            </a:r>
          </a:p>
        </p:txBody>
      </p:sp>
      <p:sp>
        <p:nvSpPr>
          <p:cNvPr name="TextBox 16" id="16"/>
          <p:cNvSpPr txBox="true"/>
          <p:nvPr/>
        </p:nvSpPr>
        <p:spPr>
          <a:xfrm rot="-270511">
            <a:off x="4588540" y="4053162"/>
            <a:ext cx="10355822" cy="6380565"/>
          </a:xfrm>
          <a:prstGeom prst="rect">
            <a:avLst/>
          </a:prstGeom>
        </p:spPr>
        <p:txBody>
          <a:bodyPr anchor="t" rtlCol="false" tIns="0" lIns="0" bIns="0" rIns="0">
            <a:spAutoFit/>
          </a:bodyPr>
          <a:lstStyle/>
          <a:p>
            <a:pPr algn="ctr">
              <a:lnSpc>
                <a:spcPts val="6365"/>
              </a:lnSpc>
            </a:pPr>
            <a:r>
              <a:rPr lang="en-US" sz="4546">
                <a:solidFill>
                  <a:srgbClr val="51511B"/>
                </a:solidFill>
                <a:latin typeface="Glass Antiqua"/>
                <a:ea typeface="Glass Antiqua"/>
                <a:cs typeface="Glass Antiqua"/>
                <a:sym typeface="Glass Antiqua"/>
              </a:rPr>
              <a:t>•Penggunamencaritiketberdasarkanrute dan tanggal.</a:t>
            </a:r>
          </a:p>
          <a:p>
            <a:pPr algn="ctr">
              <a:lnSpc>
                <a:spcPts val="6365"/>
              </a:lnSpc>
            </a:pPr>
            <a:r>
              <a:rPr lang="en-US" sz="4546">
                <a:solidFill>
                  <a:srgbClr val="51511B"/>
                </a:solidFill>
                <a:latin typeface="Glass Antiqua"/>
                <a:ea typeface="Glass Antiqua"/>
                <a:cs typeface="Glass Antiqua"/>
                <a:sym typeface="Glass Antiqua"/>
              </a:rPr>
              <a:t>•Memilihjadwal bus yang tersedia.</a:t>
            </a:r>
          </a:p>
          <a:p>
            <a:pPr algn="ctr">
              <a:lnSpc>
                <a:spcPts val="6365"/>
              </a:lnSpc>
            </a:pPr>
            <a:r>
              <a:rPr lang="en-US" sz="4546">
                <a:solidFill>
                  <a:srgbClr val="51511B"/>
                </a:solidFill>
                <a:latin typeface="Glass Antiqua"/>
                <a:ea typeface="Glass Antiqua"/>
                <a:cs typeface="Glass Antiqua"/>
                <a:sym typeface="Glass Antiqua"/>
              </a:rPr>
              <a:t>•Memilihkursisecarainteraktif.</a:t>
            </a:r>
          </a:p>
          <a:p>
            <a:pPr algn="ctr">
              <a:lnSpc>
                <a:spcPts val="6365"/>
              </a:lnSpc>
            </a:pPr>
            <a:r>
              <a:rPr lang="en-US" sz="4546">
                <a:solidFill>
                  <a:srgbClr val="51511B"/>
                </a:solidFill>
                <a:latin typeface="Glass Antiqua"/>
                <a:ea typeface="Glass Antiqua"/>
                <a:cs typeface="Glass Antiqua"/>
                <a:sym typeface="Glass Antiqua"/>
              </a:rPr>
              <a:t>•Melakukan pembayaran digital.</a:t>
            </a:r>
          </a:p>
          <a:p>
            <a:pPr algn="ctr">
              <a:lnSpc>
                <a:spcPts val="6365"/>
              </a:lnSpc>
            </a:pPr>
            <a:r>
              <a:rPr lang="en-US" sz="4546">
                <a:solidFill>
                  <a:srgbClr val="51511B"/>
                </a:solidFill>
                <a:latin typeface="Glass Antiqua"/>
                <a:ea typeface="Glass Antiqua"/>
                <a:cs typeface="Glass Antiqua"/>
                <a:sym typeface="Glass Antiqua"/>
              </a:rPr>
              <a:t>•Mendapatkankonfirmasi dan E-Ticket digital.</a:t>
            </a:r>
          </a:p>
          <a:p>
            <a:pPr algn="ctr">
              <a:lnSpc>
                <a:spcPts val="6365"/>
              </a:lnSpc>
            </a:pPr>
          </a:p>
          <a:p>
            <a:pPr algn="ctr">
              <a:lnSpc>
                <a:spcPts val="6365"/>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DDABE"/>
        </a:solidFill>
      </p:bgPr>
    </p:bg>
    <p:spTree>
      <p:nvGrpSpPr>
        <p:cNvPr id="1" name=""/>
        <p:cNvGrpSpPr/>
        <p:nvPr/>
      </p:nvGrpSpPr>
      <p:grpSpPr>
        <a:xfrm>
          <a:off x="0" y="0"/>
          <a:ext cx="0" cy="0"/>
          <a:chOff x="0" y="0"/>
          <a:chExt cx="0" cy="0"/>
        </a:xfrm>
      </p:grpSpPr>
      <p:sp>
        <p:nvSpPr>
          <p:cNvPr name="Freeform 2" id="2"/>
          <p:cNvSpPr/>
          <p:nvPr/>
        </p:nvSpPr>
        <p:spPr>
          <a:xfrm flipH="false" flipV="false" rot="-803334">
            <a:off x="-2054682" y="-464854"/>
            <a:ext cx="5960326" cy="3933815"/>
          </a:xfrm>
          <a:custGeom>
            <a:avLst/>
            <a:gdLst/>
            <a:ahLst/>
            <a:cxnLst/>
            <a:rect r="r" b="b" t="t" l="l"/>
            <a:pathLst>
              <a:path h="3933815" w="5960326">
                <a:moveTo>
                  <a:pt x="0" y="0"/>
                </a:moveTo>
                <a:lnTo>
                  <a:pt x="5960327" y="0"/>
                </a:lnTo>
                <a:lnTo>
                  <a:pt x="5960327" y="3933815"/>
                </a:lnTo>
                <a:lnTo>
                  <a:pt x="0" y="39338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4643084"/>
            <a:ext cx="8041849" cy="5643916"/>
          </a:xfrm>
          <a:custGeom>
            <a:avLst/>
            <a:gdLst/>
            <a:ahLst/>
            <a:cxnLst/>
            <a:rect r="r" b="b" t="t" l="l"/>
            <a:pathLst>
              <a:path h="5643916" w="8041849">
                <a:moveTo>
                  <a:pt x="0" y="0"/>
                </a:moveTo>
                <a:lnTo>
                  <a:pt x="8041849" y="0"/>
                </a:lnTo>
                <a:lnTo>
                  <a:pt x="8041849" y="5643916"/>
                </a:lnTo>
                <a:lnTo>
                  <a:pt x="0" y="56439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119960">
            <a:off x="2455744" y="-218229"/>
            <a:ext cx="13376513" cy="13573952"/>
          </a:xfrm>
          <a:custGeom>
            <a:avLst/>
            <a:gdLst/>
            <a:ahLst/>
            <a:cxnLst/>
            <a:rect r="r" b="b" t="t" l="l"/>
            <a:pathLst>
              <a:path h="13573952" w="13376513">
                <a:moveTo>
                  <a:pt x="0" y="0"/>
                </a:moveTo>
                <a:lnTo>
                  <a:pt x="13376512" y="0"/>
                </a:lnTo>
                <a:lnTo>
                  <a:pt x="13376512" y="13573952"/>
                </a:lnTo>
                <a:lnTo>
                  <a:pt x="0" y="135739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77301" y="5856710"/>
            <a:ext cx="6230069" cy="5607062"/>
          </a:xfrm>
          <a:custGeom>
            <a:avLst/>
            <a:gdLst/>
            <a:ahLst/>
            <a:cxnLst/>
            <a:rect r="r" b="b" t="t" l="l"/>
            <a:pathLst>
              <a:path h="5607062" w="6230069">
                <a:moveTo>
                  <a:pt x="0" y="0"/>
                </a:moveTo>
                <a:lnTo>
                  <a:pt x="6230070" y="0"/>
                </a:lnTo>
                <a:lnTo>
                  <a:pt x="6230070" y="5607062"/>
                </a:lnTo>
                <a:lnTo>
                  <a:pt x="0" y="56070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572461">
            <a:off x="14590745" y="-1422226"/>
            <a:ext cx="3897439" cy="5241055"/>
          </a:xfrm>
          <a:custGeom>
            <a:avLst/>
            <a:gdLst/>
            <a:ahLst/>
            <a:cxnLst/>
            <a:rect r="r" b="b" t="t" l="l"/>
            <a:pathLst>
              <a:path h="5241055" w="3897439">
                <a:moveTo>
                  <a:pt x="0" y="0"/>
                </a:moveTo>
                <a:lnTo>
                  <a:pt x="3897439" y="0"/>
                </a:lnTo>
                <a:lnTo>
                  <a:pt x="3897439" y="5241055"/>
                </a:lnTo>
                <a:lnTo>
                  <a:pt x="0" y="52410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6016" y="3211037"/>
            <a:ext cx="3051680" cy="3489447"/>
          </a:xfrm>
          <a:custGeom>
            <a:avLst/>
            <a:gdLst/>
            <a:ahLst/>
            <a:cxnLst/>
            <a:rect r="r" b="b" t="t" l="l"/>
            <a:pathLst>
              <a:path h="3489447" w="3051680">
                <a:moveTo>
                  <a:pt x="0" y="0"/>
                </a:moveTo>
                <a:lnTo>
                  <a:pt x="3051680" y="0"/>
                </a:lnTo>
                <a:lnTo>
                  <a:pt x="3051680" y="3489447"/>
                </a:lnTo>
                <a:lnTo>
                  <a:pt x="0" y="34894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477555">
            <a:off x="4892170" y="-755121"/>
            <a:ext cx="5172138" cy="2435607"/>
          </a:xfrm>
          <a:custGeom>
            <a:avLst/>
            <a:gdLst/>
            <a:ahLst/>
            <a:cxnLst/>
            <a:rect r="r" b="b" t="t" l="l"/>
            <a:pathLst>
              <a:path h="2435607" w="5172138">
                <a:moveTo>
                  <a:pt x="0" y="0"/>
                </a:moveTo>
                <a:lnTo>
                  <a:pt x="5172138" y="0"/>
                </a:lnTo>
                <a:lnTo>
                  <a:pt x="5172138" y="2435607"/>
                </a:lnTo>
                <a:lnTo>
                  <a:pt x="0" y="24356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6452694" y="3375985"/>
            <a:ext cx="3159551" cy="3159551"/>
          </a:xfrm>
          <a:custGeom>
            <a:avLst/>
            <a:gdLst/>
            <a:ahLst/>
            <a:cxnLst/>
            <a:rect r="r" b="b" t="t" l="l"/>
            <a:pathLst>
              <a:path h="3159551" w="3159551">
                <a:moveTo>
                  <a:pt x="0" y="0"/>
                </a:moveTo>
                <a:lnTo>
                  <a:pt x="3159551" y="0"/>
                </a:lnTo>
                <a:lnTo>
                  <a:pt x="3159551" y="3159551"/>
                </a:lnTo>
                <a:lnTo>
                  <a:pt x="0" y="315955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271391">
            <a:off x="5444040" y="4556517"/>
            <a:ext cx="8602873" cy="3799576"/>
          </a:xfrm>
          <a:prstGeom prst="rect">
            <a:avLst/>
          </a:prstGeom>
        </p:spPr>
        <p:txBody>
          <a:bodyPr anchor="t" rtlCol="false" tIns="0" lIns="0" bIns="0" rIns="0">
            <a:spAutoFit/>
          </a:bodyPr>
          <a:lstStyle/>
          <a:p>
            <a:pPr algn="ctr">
              <a:lnSpc>
                <a:spcPts val="13907"/>
              </a:lnSpc>
            </a:pPr>
            <a:r>
              <a:rPr lang="en-US" sz="18299">
                <a:solidFill>
                  <a:srgbClr val="483E2B"/>
                </a:solidFill>
                <a:latin typeface="Art Nuvo Letterpress"/>
                <a:ea typeface="Art Nuvo Letterpress"/>
                <a:cs typeface="Art Nuvo Letterpress"/>
                <a:sym typeface="Art Nuvo Letterpres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DAG8JK1ywGA</dc:identifier>
  <dcterms:modified xsi:type="dcterms:W3CDTF">2011-08-01T06:04:30Z</dcterms:modified>
  <cp:revision>1</cp:revision>
  <dc:title>Brown and Black Retro Vintage Group Project Presentation</dc:title>
</cp:coreProperties>
</file>